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kup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2377440" cy="7064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651760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Kamerik 105"/>
              </a:rPr>
              <a:t>Company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Kamerik 105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8AB925"/>
                </a:solidFill>
                <a:latin typeface="Golos Text"/>
              </a:rPr>
              <a:t>ENVIRONMENTAL CONSULTANCY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9ECE9"/>
                </a:solidFill>
                <a:latin typeface="Golos Text"/>
              </a:rPr>
              <a:t>Saudi-based Category A Environmental Consultancy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52160"/>
            <a:ext cx="2011680" cy="36576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Golos Text"/>
              </a:rPr>
              <a:t>www.sncconsultancy.com</a:t>
            </a:r>
          </a:p>
        </p:txBody>
      </p:sp>
      <p:pic>
        <p:nvPicPr>
          <p:cNvPr id="9" name="Picture 8" descr="textur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0"/>
            <a:ext cx="7985455" cy="6858000"/>
          </a:xfrm>
          <a:prstGeom prst="rect">
            <a:avLst/>
          </a:prstGeom>
        </p:spPr>
      </p:pic>
      <p:pic>
        <p:nvPicPr>
          <p:cNvPr id="10" name="Picture 9" descr="ring_fa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297680"/>
            <a:ext cx="2926080" cy="2926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201168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4858"/>
                </a:solidFill>
                <a:latin typeface="Golos Text"/>
              </a:rPr>
              <a:t>Practical Environmental Solutions.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4858"/>
                </a:solidFill>
                <a:latin typeface="Golos Text"/>
              </a:rPr>
              <a:t>Regulatory Clarity.  Project Readiness.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703320"/>
            <a:ext cx="3108960" cy="4572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5"/>
                </a:solidFill>
                <a:latin typeface="Golos Text"/>
              </a:rPr>
              <a:t>Environmental permitting · EIA &amp; studies · EMP / CEMP · Compliance &amp; reporting · Waste ·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80644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7B"/>
                </a:solidFill>
                <a:latin typeface="Golos Text"/>
              </a:rPr>
              <a:t>Dammam, Eastern Province, KSA    ·    +966 55 477 7412    ·    info@snc.com.sa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_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-365760"/>
            <a:ext cx="3840480" cy="3840480"/>
          </a:xfrm>
          <a:prstGeom prst="rect">
            <a:avLst/>
          </a:prstGeom>
        </p:spPr>
      </p:pic>
      <p:pic>
        <p:nvPicPr>
          <p:cNvPr id="4" name="Picture 3" descr="locku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95" y="384048"/>
            <a:ext cx="1828800" cy="543415"/>
          </a:xfrm>
          <a:prstGeom prst="rect">
            <a:avLst/>
          </a:prstGeom>
        </p:spPr>
      </p:pic>
      <p:pic>
        <p:nvPicPr>
          <p:cNvPr id="5" name="Picture 4" descr="photo_damm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00200"/>
            <a:ext cx="4434840" cy="2651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78040" y="1600200"/>
            <a:ext cx="4434840" cy="2651760"/>
          </a:xfrm>
          <a:prstGeom prst="rect">
            <a:avLst/>
          </a:prstGeom>
          <a:noFill/>
          <a:ln w="12700">
            <a:solidFill>
              <a:srgbClr val="C9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78040" y="3959352"/>
            <a:ext cx="4434840" cy="292608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24344" y="3959352"/>
            <a:ext cx="4142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Golos Text"/>
              </a:rPr>
              <a:t>Dammam, Eastern Province — our home 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600200"/>
            <a:ext cx="64008" cy="2651760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4526280"/>
            <a:ext cx="822960" cy="45720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468172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B925"/>
                </a:solidFill>
                <a:latin typeface="Golos Text"/>
              </a:rPr>
              <a:t>ENVIRONMENTAL CONSULTANCY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 i="0">
                <a:solidFill>
                  <a:srgbClr val="6B767B"/>
                </a:solidFill>
                <a:latin typeface="Golos Text"/>
              </a:rPr>
              <a:t>Licensed · Registered · MEWA-aligned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91640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2F4858"/>
                </a:solidFill>
                <a:latin typeface="Kamerik 105"/>
              </a:rPr>
              <a:t>Welcome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95728"/>
            <a:ext cx="1737360" cy="4572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33472"/>
            <a:ext cx="5440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A4A55"/>
                </a:solidFill>
                <a:latin typeface="Golos Text"/>
              </a:rPr>
              <a:t>SNC Environmental Consultancy is a Saudi-based Category A environmental consultancy headquartered in Dammam, Eastern Province. From a single project to a national portfolio, we help project owners, developers, contractors and operating facilities obtain and maintain environmental approvals with confidence — translating complex NCEC and MEWA requirements into a clear, documented, approval-ready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526280"/>
            <a:ext cx="1737360" cy="45720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81728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B925"/>
                </a:solidFill>
                <a:latin typeface="Golos Text"/>
              </a:rPr>
              <a:t>ALIGNED WITH MEWA ENVIRONMENTAL LAW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and_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WHO WE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F4858"/>
                </a:solidFill>
                <a:latin typeface="Kamerik 105"/>
              </a:rPr>
              <a:t>About SNC</a:t>
            </a:r>
          </a:p>
        </p:txBody>
      </p:sp>
      <p:pic>
        <p:nvPicPr>
          <p:cNvPr id="6" name="Picture 5" descr="ring_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0" y="3657600"/>
            <a:ext cx="3108960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331720"/>
            <a:ext cx="3179978" cy="228600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3179978" cy="8229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" y="2697480"/>
            <a:ext cx="841248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697480"/>
            <a:ext cx="841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6A91"/>
                </a:solidFill>
                <a:latin typeface="Kamerik 105"/>
              </a:rPr>
              <a:t>SNC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72968"/>
            <a:ext cx="25947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Project Owners &amp; Developers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959352"/>
            <a:ext cx="25947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Supporting projects from early environmental requirements through permitting and documentation.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1538" y="2331720"/>
            <a:ext cx="3179978" cy="228600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1538" y="2331720"/>
            <a:ext cx="3179978" cy="8229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4146" y="2697480"/>
            <a:ext cx="841248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4146" y="2697480"/>
            <a:ext cx="841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B925"/>
                </a:solidFill>
                <a:latin typeface="Kamerik 105"/>
              </a:rPr>
              <a:t>SNC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4146" y="3172968"/>
            <a:ext cx="25947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Operating Facilities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146" y="3959352"/>
            <a:ext cx="25947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Supporting active facilities with environmental records, compliance documentation and regulatory coordination.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40116" y="2331720"/>
            <a:ext cx="3179978" cy="228600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40116" y="2331720"/>
            <a:ext cx="3179978" cy="82296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32724" y="2697480"/>
            <a:ext cx="841248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2724" y="2697480"/>
            <a:ext cx="8412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5E00"/>
                </a:solidFill>
                <a:latin typeface="Kamerik 105"/>
              </a:rPr>
              <a:t>SNC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2724" y="3172968"/>
            <a:ext cx="25947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Public &amp; Semi-Government Entities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2724" y="3959352"/>
            <a:ext cx="25947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Environmental consultancy support for public, semi-government and strategic development projects.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92040"/>
            <a:ext cx="10545775" cy="77724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999713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B925"/>
                </a:solidFill>
                <a:latin typeface="Golos Text"/>
              </a:rPr>
              <a:t>Why SNC  </a:t>
            </a:r>
            <a:r>
              <a:rPr sz="1300" b="0" i="0">
                <a:solidFill>
                  <a:srgbClr val="FFFFFF"/>
                </a:solidFill>
                <a:latin typeface="Golos Text"/>
              </a:rPr>
              <a:t>we are a Saudi-licensed Category A firm that turns environmental complexity into approval-ready documentation — combining hands-on authority experience, multi-sector delivery and full-lifecycle support with accredited, auditable laboratory coordination.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rand_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GUIDED BY VISION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F4858"/>
                </a:solidFill>
                <a:latin typeface="Kamerik 105"/>
              </a:rPr>
              <a:t>Our Mission</a:t>
            </a:r>
          </a:p>
        </p:txBody>
      </p:sp>
      <p:pic>
        <p:nvPicPr>
          <p:cNvPr id="6" name="Picture 5" descr="ring_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-457200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4858"/>
                </a:solidFill>
                <a:latin typeface="Kamerik 105"/>
              </a:rPr>
              <a:t>To provide innovative, data-driven and sustainable environmental solutions that support a greener, more resilient future for industries, governments and communities worldwide.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617720"/>
            <a:ext cx="1828800" cy="4572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5"/>
                </a:solidFill>
                <a:latin typeface="Golos Text"/>
              </a:rPr>
              <a:t>We integrate economic growth with ecological resilience — fostering accountable, sustainable and shared prosperity for every client and community we serve.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286000"/>
            <a:ext cx="5029200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286000"/>
            <a:ext cx="82296" cy="1737360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1968" y="2615184"/>
            <a:ext cx="475488" cy="475488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615184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Kamerik 105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651760"/>
            <a:ext cx="3749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Innovative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255264"/>
            <a:ext cx="44439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Data-driven environmental solutions that are practical and implementable.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79392"/>
            <a:ext cx="5029200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4279392"/>
            <a:ext cx="82296" cy="1737360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01968" y="4608576"/>
            <a:ext cx="475488" cy="475488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60857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Kamerik 105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645152"/>
            <a:ext cx="3749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Sustainability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248656"/>
            <a:ext cx="44439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Responsible progress that unites strategic innovation with environmental stewardship.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_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A GREENER, CLEANER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F4858"/>
                </a:solidFill>
                <a:latin typeface="Kamerik 105"/>
              </a:rPr>
              <a:t>Our Vision</a:t>
            </a:r>
          </a:p>
        </p:txBody>
      </p:sp>
      <p:pic>
        <p:nvPicPr>
          <p:cNvPr id="6" name="Picture 5" descr="ring_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" y="-457200"/>
            <a:ext cx="3108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33172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4858"/>
                </a:solidFill>
                <a:latin typeface="Kamerik 105"/>
              </a:rPr>
              <a:t>We strive to drive responsible progress and become a leader in clean energy solutions — with an international presence and a reputation for excellence.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41648"/>
            <a:ext cx="1828800" cy="4572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51376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5"/>
                </a:solidFill>
                <a:latin typeface="Golos Text"/>
              </a:rPr>
              <a:t>Through strong partnerships and evidence-based solutions we grow an economy that is accountable, sustainable and built to last.</a:t>
            </a:r>
          </a:p>
        </p:txBody>
      </p:sp>
      <p:pic>
        <p:nvPicPr>
          <p:cNvPr id="10" name="Picture 9" descr="photo_al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82896"/>
            <a:ext cx="5029200" cy="1234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" y="4882896"/>
            <a:ext cx="5029200" cy="1234440"/>
          </a:xfrm>
          <a:prstGeom prst="rect">
            <a:avLst/>
          </a:prstGeom>
          <a:noFill/>
          <a:ln w="12700">
            <a:solidFill>
              <a:srgbClr val="C9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5824728"/>
            <a:ext cx="5029200" cy="292608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5824728"/>
            <a:ext cx="47365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Golos Text"/>
              </a:rPr>
              <a:t>AlUla — the natural environment we help protect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82896"/>
            <a:ext cx="64008" cy="1234440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286000"/>
            <a:ext cx="5029200" cy="107899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82296" cy="1078992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01968" y="2578608"/>
            <a:ext cx="402336" cy="40233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5786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Kamerik 105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505456"/>
            <a:ext cx="3886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858"/>
                </a:solidFill>
                <a:latin typeface="Kamerik 105"/>
              </a:rPr>
              <a:t>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16352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Environmental responsibility for a greener future.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547872"/>
            <a:ext cx="5029200" cy="107899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547872"/>
            <a:ext cx="82296" cy="1078992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01968" y="3840480"/>
            <a:ext cx="402336" cy="40233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84048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Kamerik 105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67328"/>
            <a:ext cx="3886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858"/>
                </a:solidFill>
                <a:latin typeface="Kamerik 105"/>
              </a:rPr>
              <a:t>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078224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Adaptability and forward-thinking clean energy solutions.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809744"/>
            <a:ext cx="5029200" cy="107899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809744"/>
            <a:ext cx="82296" cy="1078992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01968" y="5102352"/>
            <a:ext cx="402336" cy="402336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51023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Kamerik 105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5029200"/>
            <a:ext cx="3886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858"/>
                </a:solidFill>
                <a:latin typeface="Kamerik 105"/>
              </a:rPr>
              <a:t>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340096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Collaboration, transparency, excellence and accountability.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rand_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THE FULL PROJECT LIFECYCLE IN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4858"/>
                </a:solidFill>
                <a:latin typeface="Kamerik 105"/>
              </a:rPr>
              <a:t>Our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3119018" cy="8229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2551176"/>
            <a:ext cx="786384" cy="310896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51176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A91"/>
                </a:solidFill>
                <a:latin typeface="Kamerik 105"/>
              </a:rPr>
              <a:t>SNC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90088"/>
            <a:ext cx="2570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Environmental Permitting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38728"/>
            <a:ext cx="2570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5"/>
                </a:solidFill>
                <a:latin typeface="Golos Text"/>
              </a:rPr>
              <a:t>Secure construction and operational permits through managed submissions, authority responses and follow-up.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4858" y="2240280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24858" y="2240280"/>
            <a:ext cx="3119018" cy="8229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9178" y="2551176"/>
            <a:ext cx="786384" cy="310896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9178" y="2551176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B925"/>
                </a:solidFill>
                <a:latin typeface="Kamerik 105"/>
              </a:rPr>
              <a:t>SNC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9178" y="2990088"/>
            <a:ext cx="2570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EIA &amp; Studies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178" y="3538728"/>
            <a:ext cx="2570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5"/>
                </a:solidFill>
                <a:latin typeface="Golos Text"/>
              </a:rPr>
              <a:t>Environmental Impact Assessments and studies that identify impacts and plan practical mitigation.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2476" y="2240280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2476" y="2240280"/>
            <a:ext cx="3119018" cy="82296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46796" y="2551176"/>
            <a:ext cx="786384" cy="310896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6796" y="2551176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85E00"/>
                </a:solidFill>
                <a:latin typeface="Kamerik 105"/>
              </a:rPr>
              <a:t>SNC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6796" y="2990088"/>
            <a:ext cx="2570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EMP / CEMP / OEMP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6796" y="3538728"/>
            <a:ext cx="2570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5"/>
                </a:solidFill>
                <a:latin typeface="Golos Text"/>
              </a:rPr>
              <a:t>Management plans for construction and operation with monitoring and control measures built 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33672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33672"/>
            <a:ext cx="3119018" cy="8229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544568"/>
            <a:ext cx="786384" cy="310896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544568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6A91"/>
                </a:solidFill>
                <a:latin typeface="Kamerik 105"/>
              </a:rPr>
              <a:t>SNC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983480"/>
            <a:ext cx="2570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Compliance &amp;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32120"/>
            <a:ext cx="2570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5"/>
                </a:solidFill>
                <a:latin typeface="Golos Text"/>
              </a:rPr>
              <a:t>Environmental records and periodic reporting that keep your facility audit-ready.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4858" y="4233672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24858" y="4233672"/>
            <a:ext cx="3119018" cy="8229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99178" y="4544568"/>
            <a:ext cx="786384" cy="310896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9178" y="4544568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B925"/>
                </a:solidFill>
                <a:latin typeface="Kamerik 105"/>
              </a:rPr>
              <a:t>SNC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9178" y="4983480"/>
            <a:ext cx="2570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Waste Advisory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9178" y="5532120"/>
            <a:ext cx="2570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5"/>
                </a:solidFill>
                <a:latin typeface="Golos Text"/>
              </a:rPr>
              <a:t>Waste management plans and classification guidance aligned to regulatory requirements.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72476" y="4233672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72476" y="4233672"/>
            <a:ext cx="3119018" cy="82296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46796" y="4544568"/>
            <a:ext cx="786384" cy="310896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6796" y="4544568"/>
            <a:ext cx="78638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85E00"/>
                </a:solidFill>
                <a:latin typeface="Kamerik 105"/>
              </a:rPr>
              <a:t>SNC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6796" y="4983480"/>
            <a:ext cx="25703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F4858"/>
                </a:solidFill>
                <a:latin typeface="Kamerik 105"/>
              </a:rPr>
              <a:t>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6796" y="5532120"/>
            <a:ext cx="2570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A4A55"/>
                </a:solidFill>
                <a:latin typeface="Golos Text"/>
              </a:rPr>
              <a:t>Air, noise, water, soil and sediment monitoring coordinated through accredited laboratories.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rand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STRUCTURED FROM SCREENING TO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F4858"/>
                </a:solidFill>
                <a:latin typeface="Kamerik 105"/>
              </a:rPr>
              <a:t>Our Regulatory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A4A55"/>
                </a:solidFill>
                <a:latin typeface="Golos Text"/>
              </a:rPr>
              <a:t>A documented, auditable path from first screening through to post-permit compliance — so you maintain control at every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4769967" cy="169164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82296" cy="1691640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" y="2761488"/>
            <a:ext cx="475488" cy="475488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614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Kamerik 105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8064"/>
            <a:ext cx="3535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4858"/>
                </a:solidFill>
                <a:latin typeface="Kamerik 105"/>
              </a:rPr>
              <a:t>Regulatory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29000"/>
            <a:ext cx="41847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Early review of project activities, site context and expected permitting requirements.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58687" y="2468880"/>
            <a:ext cx="4769967" cy="169164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58687" y="2468880"/>
            <a:ext cx="82296" cy="1691640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1295" y="2761488"/>
            <a:ext cx="475488" cy="475488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1295" y="27614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Kamerik 105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3087" y="2798064"/>
            <a:ext cx="3535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4858"/>
                </a:solidFill>
                <a:latin typeface="Kamerik 105"/>
              </a:rPr>
              <a:t>Documentation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1295" y="3429000"/>
            <a:ext cx="41847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Preparation of environmental studies, plans, records and supporting documents.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4769967" cy="169164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434840"/>
            <a:ext cx="82296" cy="169164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5568" y="4727448"/>
            <a:ext cx="475488" cy="475488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7274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Kamerik 105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3535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4858"/>
                </a:solidFill>
                <a:latin typeface="Kamerik 105"/>
              </a:rPr>
              <a:t>Authority Coordination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394960"/>
            <a:ext cx="41847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Support during submission, follow-up, clarification and response to comments.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58687" y="4434840"/>
            <a:ext cx="4769967" cy="169164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58687" y="4434840"/>
            <a:ext cx="82296" cy="1691640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1295" y="4727448"/>
            <a:ext cx="475488" cy="475488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1295" y="47274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Kamerik 105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3087" y="4764024"/>
            <a:ext cx="353552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4858"/>
                </a:solidFill>
                <a:latin typeface="Kamerik 105"/>
              </a:rPr>
              <a:t>Compliance 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295" y="5394960"/>
            <a:ext cx="41847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Post-permit support through records, reporting, monitoring and compliance documentation.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rand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SCOPED TO PROJECT CLASSIFICATION AND SITE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4858"/>
                </a:solidFill>
                <a:latin typeface="Kamerik 105"/>
              </a:rPr>
              <a:t>Impact &amp; Specialist Studies</a:t>
            </a:r>
          </a:p>
        </p:txBody>
      </p:sp>
      <p:pic>
        <p:nvPicPr>
          <p:cNvPr id="6" name="Picture 5" descr="ring_f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023360"/>
            <a:ext cx="274320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" y="2286000"/>
            <a:ext cx="5669280" cy="370332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2542032"/>
            <a:ext cx="402336" cy="40233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4203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542032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Environmental Impact Assessment (EIA)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9848" y="3017520"/>
            <a:ext cx="402336" cy="40233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0175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3017520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Environmental Site Assessment (ESA)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3493008"/>
            <a:ext cx="402336" cy="402336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4930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3493008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Ecological Assessment &amp; Sensitivity Screening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3968496"/>
            <a:ext cx="402336" cy="40233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9684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3968496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Biodiversity &amp; Vegetation Baseline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4443984"/>
            <a:ext cx="402336" cy="40233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44398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443984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Habitat Characterization &amp; Field Observation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" y="4919472"/>
            <a:ext cx="402336" cy="402336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91947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4919472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Hydrological, Drainage &amp; Flood Risk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" y="5394960"/>
            <a:ext cx="402336" cy="40233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39496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Kamerik 105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394960"/>
            <a:ext cx="45720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4858"/>
                </a:solidFill>
                <a:latin typeface="Kamerik 105"/>
              </a:rPr>
              <a:t>Climate Vulnerability &amp; Risk Screening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465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4858"/>
                </a:solidFill>
                <a:latin typeface="Kamerik 105"/>
              </a:rPr>
              <a:t>Scope &amp; Approach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2788920"/>
            <a:ext cx="4465015" cy="9525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2971800"/>
            <a:ext cx="446501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3A4A55"/>
                </a:solidFill>
                <a:latin typeface="Golos Text"/>
              </a:rPr>
              <a:t>Each study is scoped to the project's environmental classification, regulatory requirements and site-specific conditions, so findings hold up to authority review. We identify key receptors, evaluate impacts and build mitigation into the plan — not added on after approval.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A4A55"/>
                </a:solidFill>
                <a:latin typeface="Golos Text"/>
              </a:rPr>
              <a:t>Where the project calls for it, specialist inputs cover ecology, biodiversity, hydrology and climate-related assessment — grounded in confirmed project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rand_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SELECTED PROJECTS WITH REFERENCE AND AUTHORITY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4858"/>
                </a:solidFill>
                <a:latin typeface="Kamerik 105"/>
              </a:rPr>
              <a:t>Track Record &amp;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29968"/>
            <a:ext cx="4724247" cy="329184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29968"/>
            <a:ext cx="82296" cy="3291840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304288"/>
            <a:ext cx="4102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F4858"/>
                </a:solidFill>
                <a:latin typeface="Kamerik 105"/>
              </a:rPr>
              <a:t>Jubail — Residential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743200"/>
            <a:ext cx="4102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7B"/>
                </a:solidFill>
                <a:latin typeface="Golos Text"/>
              </a:rPr>
              <a:t>Client: Al-Suwaket 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07238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Ref.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07238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SNC/JB-2024-01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34670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34670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Residential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62102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2102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89534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89534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55,000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16966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Permit / Authority 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16966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NCEC / EMP-1142-26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3856" y="4462272"/>
            <a:ext cx="41024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553712"/>
            <a:ext cx="4102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B925"/>
                </a:solidFill>
                <a:latin typeface="Golos Text"/>
              </a:rPr>
              <a:t>Submitted 2025 · Permits issued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828032"/>
            <a:ext cx="41024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55"/>
                </a:solidFill>
                <a:latin typeface="Golos Text"/>
              </a:rPr>
              <a:t>EMP preparation, construction &amp; operational permitting, regulatory submission and follow-up.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6" y="4956048"/>
            <a:ext cx="2286000" cy="274320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956048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Golos Text"/>
              </a:rPr>
              <a:t>Permits issued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04407" y="2029968"/>
            <a:ext cx="4724247" cy="329184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4407" y="2029968"/>
            <a:ext cx="82296" cy="329184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5303" y="2304288"/>
            <a:ext cx="4102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F4858"/>
                </a:solidFill>
                <a:latin typeface="Kamerik 105"/>
              </a:rPr>
              <a:t>Riyadh — Mixed-Use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5303" y="2743200"/>
            <a:ext cx="4102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67B"/>
                </a:solidFill>
                <a:latin typeface="Golos Text"/>
              </a:rPr>
              <a:t>Client: Mohammed Al Habib Real Estate / Hekayat Al-Tatweer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5303" y="307238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Ref. 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3207" y="307238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SNC/RY-2024-07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303" y="334670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3207" y="334670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Mixed-Use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5303" y="362102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3207" y="362102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5303" y="389534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Area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3207" y="389534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250,000 m²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5303" y="4169663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Permit / Authority No.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3207" y="4169663"/>
            <a:ext cx="2602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NCEC / EIA-0891-25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15303" y="4462272"/>
            <a:ext cx="41024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15303" y="4553712"/>
            <a:ext cx="4102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B925"/>
                </a:solidFill>
                <a:latin typeface="Golos Text"/>
              </a:rPr>
              <a:t>Submitted 2025 · Decision expected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5303" y="4828032"/>
            <a:ext cx="41024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55"/>
                </a:solidFill>
                <a:latin typeface="Golos Text"/>
              </a:rPr>
              <a:t>Environmental documentation and construction permit support with authority coordination.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15303" y="4956048"/>
            <a:ext cx="2286000" cy="27432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5303" y="4956048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Golos Text"/>
              </a:rPr>
              <a:t>Approval 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5486400"/>
            <a:ext cx="2407843" cy="71323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" y="5486400"/>
            <a:ext cx="2407843" cy="64008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559552"/>
            <a:ext cx="24078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A91"/>
                </a:solidFill>
                <a:latin typeface="Kamerik 105"/>
              </a:rPr>
              <a:t>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5870448"/>
            <a:ext cx="21883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Submission success rate on first review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49675" y="5486400"/>
            <a:ext cx="2407843" cy="71323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9675" y="5486400"/>
            <a:ext cx="2407843" cy="64008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9675" y="5559552"/>
            <a:ext cx="24078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AB925"/>
                </a:solidFill>
                <a:latin typeface="Kamerik 105"/>
              </a:rPr>
              <a:t>50+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9403" y="5870448"/>
            <a:ext cx="21883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Environmental documents delivered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76391" y="5486400"/>
            <a:ext cx="2407843" cy="71323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76391" y="5486400"/>
            <a:ext cx="2407843" cy="64008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76391" y="5559552"/>
            <a:ext cx="24078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85E00"/>
                </a:solidFill>
                <a:latin typeface="Kamerik 105"/>
              </a:rPr>
              <a:t>5+ yrs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6119" y="5870448"/>
            <a:ext cx="21883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Focused environmental practice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03107" y="5486400"/>
            <a:ext cx="2407843" cy="713232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03107" y="5486400"/>
            <a:ext cx="2407843" cy="64008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3107" y="5559552"/>
            <a:ext cx="24078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A91"/>
                </a:solidFill>
                <a:latin typeface="Kamerik 105"/>
              </a:rP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12835" y="5870448"/>
            <a:ext cx="21883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55"/>
                </a:solidFill>
                <a:latin typeface="Golos Text"/>
              </a:rPr>
              <a:t>Aligned with MEWA Environmental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rand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SENIOR, TECHNICALLY QUALIFIED CONSULTANTS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4858"/>
                </a:solidFill>
                <a:latin typeface="Kamerik 105"/>
              </a:rPr>
              <a:t>Leadership &amp;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3119018" cy="269748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3119018" cy="82296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532888"/>
            <a:ext cx="749808" cy="749808"/>
          </a:xfrm>
          <a:prstGeom prst="ellipse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53288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4858"/>
                </a:solidFill>
                <a:latin typeface="Kamerik 105"/>
              </a:rPr>
              <a:t>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410712"/>
            <a:ext cx="25338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4858"/>
                </a:solidFill>
                <a:latin typeface="Kamerik 105"/>
              </a:rPr>
              <a:t>Mohammed Al-Harbi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739896"/>
            <a:ext cx="25338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Managing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105656"/>
            <a:ext cx="25338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18+ years in environmental permitting &amp; compliance; ex-authority reviewer of submissions.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0578" y="2148840"/>
            <a:ext cx="3119018" cy="269748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0578" y="2148840"/>
            <a:ext cx="3119018" cy="82296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63186" y="2532888"/>
            <a:ext cx="749808" cy="749808"/>
          </a:xfrm>
          <a:prstGeom prst="ellipse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3186" y="253288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A91"/>
                </a:solidFill>
                <a:latin typeface="Kamerik 105"/>
              </a:rPr>
              <a:t>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3186" y="3410712"/>
            <a:ext cx="25338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4858"/>
                </a:solidFill>
                <a:latin typeface="Kamerik 105"/>
              </a:rPr>
              <a:t>Sara Al-Qahtani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3186" y="3739896"/>
            <a:ext cx="25338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6A91"/>
                </a:solidFill>
                <a:latin typeface="Golos Text"/>
              </a:rPr>
              <a:t>Head of Environmental Studies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3186" y="4105656"/>
            <a:ext cx="25338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PhD in Environmental Science; leads EIA/ESA and biodiversity baseline programs.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8196" y="2148840"/>
            <a:ext cx="3119018" cy="269748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18196" y="2148840"/>
            <a:ext cx="3119018" cy="82296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10804" y="2532888"/>
            <a:ext cx="749808" cy="749808"/>
          </a:xfrm>
          <a:prstGeom prst="ellipse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0804" y="253288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AB925"/>
                </a:solidFill>
                <a:latin typeface="Kamerik 105"/>
              </a:rPr>
              <a:t>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804" y="3410712"/>
            <a:ext cx="25338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F4858"/>
                </a:solidFill>
                <a:latin typeface="Kamerik 105"/>
              </a:rPr>
              <a:t>Khalid Al-Dossary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804" y="3739896"/>
            <a:ext cx="25338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B925"/>
                </a:solidFill>
                <a:latin typeface="Golos Text"/>
              </a:rPr>
              <a:t>Senior Compliance Consultant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804" y="4105656"/>
            <a:ext cx="253380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Specialist in NCEC submissions, gap reviews and operational compliance documentation.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937760"/>
            <a:ext cx="10545775" cy="77724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937760"/>
            <a:ext cx="999713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B925"/>
                </a:solidFill>
                <a:latin typeface="Golos Text"/>
              </a:rPr>
              <a:t>Accredited Laboratory Network: </a:t>
            </a:r>
            <a:r>
              <a:rPr sz="1300" b="0" i="0">
                <a:solidFill>
                  <a:srgbClr val="FFFFFF"/>
                </a:solidFill>
                <a:latin typeface="Golos Text"/>
              </a:rPr>
              <a:t>All sampling and analysis is coordinated through accredited laboratories recognized by SASO/NCA, with documented chain of custody and auditable results.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rand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384048"/>
            <a:ext cx="1417320" cy="4211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67B"/>
                </a:solidFill>
                <a:latin typeface="Golos Text"/>
              </a:rPr>
              <a:t>LICENSED, REGISTERED AND MEWA-ALIGNED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4858"/>
                </a:solidFill>
                <a:latin typeface="Kamerik 105"/>
              </a:rPr>
              <a:t>Credentials &amp; 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3119018" cy="73152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523744"/>
            <a:ext cx="253380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67B"/>
                </a:solidFill>
                <a:latin typeface="Golos Text"/>
              </a:rPr>
              <a:t>NCEC Category A License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98064"/>
            <a:ext cx="25338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4858"/>
                </a:solidFill>
                <a:latin typeface="Kamerik 105"/>
              </a:rPr>
              <a:t>123456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91840"/>
            <a:ext cx="25338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Environmental consultancy licence from the NCEC. Validity: 2024 – 2027.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0578" y="2194560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0578" y="2194560"/>
            <a:ext cx="3119018" cy="73152"/>
          </a:xfrm>
          <a:prstGeom prst="rect">
            <a:avLst/>
          </a:prstGeom>
          <a:solidFill>
            <a:srgbClr val="006A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3186" y="2523744"/>
            <a:ext cx="253380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67B"/>
                </a:solidFill>
                <a:latin typeface="Golos Text"/>
              </a:rPr>
              <a:t>Commercial Registration (CR)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3186" y="2798064"/>
            <a:ext cx="25338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4858"/>
                </a:solidFill>
                <a:latin typeface="Kamerik 105"/>
              </a:rPr>
              <a:t>2050 123 456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3186" y="3291840"/>
            <a:ext cx="25338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Company registered in Dammam, Eastern Province, KSA.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8196" y="2194560"/>
            <a:ext cx="3119018" cy="1737360"/>
          </a:xfrm>
          <a:prstGeom prst="rect">
            <a:avLst/>
          </a:prstGeom>
          <a:solidFill>
            <a:srgbClr val="F6F4F0"/>
          </a:solidFill>
          <a:ln w="12700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18196" y="2194560"/>
            <a:ext cx="3119018" cy="73152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0804" y="2523744"/>
            <a:ext cx="253380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767B"/>
                </a:solidFill>
                <a:latin typeface="Golos Text"/>
              </a:rPr>
              <a:t>VAT Registration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804" y="2798064"/>
            <a:ext cx="25338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4858"/>
                </a:solidFill>
                <a:latin typeface="Kamerik 105"/>
              </a:rPr>
              <a:t>3107 234 567 81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804" y="3291840"/>
            <a:ext cx="25338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55"/>
                </a:solidFill>
                <a:latin typeface="Golos Text"/>
              </a:rPr>
              <a:t>Registered for Value Added Tax — shown on all invoices and correspondence.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51960"/>
            <a:ext cx="10545775" cy="822960"/>
          </a:xfrm>
          <a:prstGeom prst="rect">
            <a:avLst/>
          </a:prstGeom>
          <a:solidFill>
            <a:srgbClr val="8AB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99971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Kamerik 105"/>
              </a:rPr>
              <a:t>Aligned with MEWA Environmental Law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Golos Text"/>
              </a:rPr>
              <a:t>All services are delivered in accordance with the National Center for Environmental Compliance (NCEC) and MEWA requirements.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09360"/>
            <a:ext cx="11185855" cy="9525"/>
          </a:xfrm>
          <a:prstGeom prst="rect">
            <a:avLst/>
          </a:prstGeom>
          <a:solidFill>
            <a:srgbClr val="D9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nd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19088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9808" y="643737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767B"/>
                </a:solidFill>
                <a:latin typeface="Golos Text"/>
              </a:rPr>
              <a:t>SNC Environmental Consultancy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67B"/>
                </a:solidFill>
                <a:latin typeface="Golos Text"/>
              </a:rPr>
              <a:t>NCEC Cat. A License 123456  ·  CR 2050 123 456  ·  VAT 3107 234 567 81  ·  Aligned with MEWA Environmental Law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_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760" y="-365760"/>
            <a:ext cx="2926080" cy="2926080"/>
          </a:xfrm>
          <a:prstGeom prst="rect">
            <a:avLst/>
          </a:prstGeom>
        </p:spPr>
      </p:pic>
      <p:pic>
        <p:nvPicPr>
          <p:cNvPr id="4" name="Picture 3" descr="ring_f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114800"/>
            <a:ext cx="2743200" cy="2743200"/>
          </a:xfrm>
          <a:prstGeom prst="rect">
            <a:avLst/>
          </a:prstGeom>
        </p:spPr>
      </p:pic>
      <p:pic>
        <p:nvPicPr>
          <p:cNvPr id="5" name="Picture 4" descr="locku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51560"/>
            <a:ext cx="1920240" cy="5705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219456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2F4858"/>
                </a:solidFill>
                <a:latin typeface="Kamerik 105"/>
              </a:rPr>
              <a:t>Let's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9718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55"/>
                </a:solidFill>
                <a:latin typeface="Golos Text"/>
              </a:rPr>
              <a:t>We are ready to support your environmental goals and project needs.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474720"/>
            <a:ext cx="329184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4747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A91"/>
                </a:solidFill>
                <a:latin typeface="Kamerik 105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347472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Head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347472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Dammam, Eastern Province, Kingdom of Saudi Arabia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877056"/>
            <a:ext cx="329184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877056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B925"/>
                </a:solidFill>
                <a:latin typeface="Kamerik 105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1104" y="387705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877056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info@snc.com.sa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279392"/>
            <a:ext cx="329184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27939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85E00"/>
                </a:solidFill>
                <a:latin typeface="Kamerik 105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427939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Mobile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279392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+966 55 477 7412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681728"/>
            <a:ext cx="329184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68172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6A91"/>
                </a:solidFill>
                <a:latin typeface="Kamerik 105"/>
              </a:rP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1104" y="468172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Landline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681728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+966 13 845 0010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5084064"/>
            <a:ext cx="329184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0840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B925"/>
                </a:solidFill>
                <a:latin typeface="Kamerik 105"/>
              </a:rPr>
              <a:t>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508406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5084064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www.sncconsultancy.com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5486400"/>
            <a:ext cx="329184" cy="329184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54864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85E00"/>
                </a:solidFill>
                <a:latin typeface="Kamerik 105"/>
              </a:rP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54864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4858"/>
                </a:solidFill>
                <a:latin typeface="Golos Text"/>
              </a:rPr>
              <a:t>LinkedIn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486400"/>
            <a:ext cx="4572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4A55"/>
                </a:solidFill>
                <a:latin typeface="Golos Text"/>
              </a:rPr>
              <a:t>linkedin.com/company/snc-environmental-consultancy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5943600"/>
            <a:ext cx="5120640" cy="502920"/>
          </a:xfrm>
          <a:prstGeom prst="rect">
            <a:avLst/>
          </a:prstGeom>
          <a:solidFill>
            <a:srgbClr val="2F4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5943600"/>
            <a:ext cx="4754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Golos Text"/>
              </a:rPr>
              <a:t>NCEC Cat. A License 123456  ·  CR 2050 123 456  ·  VAT 3107 234 567 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6A91"/>
                </a:solidFill>
                <a:latin typeface="Golos T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2103120" cy="6249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606040"/>
            <a:ext cx="7589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2F4858"/>
                </a:solidFill>
                <a:latin typeface="Kamerik 105"/>
              </a:rPr>
              <a:t>T H A N K   Y O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67B"/>
                </a:solidFill>
                <a:latin typeface="Golos Text"/>
              </a:rPr>
              <a:t>Practical Environmental Solutions.  Regulatory Clarity.  Project Readiness.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572000"/>
            <a:ext cx="2286000" cy="45720"/>
          </a:xfrm>
          <a:prstGeom prst="rect">
            <a:avLst/>
          </a:prstGeom>
          <a:solidFill>
            <a:srgbClr val="F8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846320"/>
            <a:ext cx="7589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858"/>
                </a:solidFill>
                <a:latin typeface="Kamerik 105"/>
              </a:rPr>
              <a:t>www.sncconsultancy.com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34924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67B"/>
                </a:solidFill>
                <a:latin typeface="Golos Text"/>
              </a:rPr>
              <a:t>+966 55 477 7412   ·   info@snc.com.sa   ·   Dammam, Eastern Province, KSA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